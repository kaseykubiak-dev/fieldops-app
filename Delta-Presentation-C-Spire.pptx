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unito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11" Type="http://schemas.openxmlformats.org/officeDocument/2006/relationships/image" Target="../media/image6.png"/><Relationship Id="rId10" Type="http://schemas.openxmlformats.org/officeDocument/2006/relationships/image" Target="../media/image10.png"/><Relationship Id="rId9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.png"/><Relationship Id="rId8" Type="http://schemas.openxmlformats.org/officeDocument/2006/relationships/image" Target="../media/image17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E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nice-magical-keller/mnt/.claude/skills/brand-alignment/assets/logos/standard/c_spire_logo_cyan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1097280"/>
            <a:ext cx="4114800" cy="160934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/>
          <p:nvPr/>
        </p:nvSpPr>
        <p:spPr>
          <a:xfrm>
            <a:off x="2926080" y="2926080"/>
            <a:ext cx="3291840" cy="27432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3154680"/>
            <a:ext cx="9144000" cy="64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Field Tech Solutions Presentation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300"/>
              <a:buFont typeface="Nunito"/>
              <a:buNone/>
            </a:pPr>
            <a:r>
              <a:rPr b="0" i="1" lang="en-US" sz="13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Empowering Technicians with Unified Information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900"/>
              <a:buFont typeface="Nunito"/>
              <a:buNone/>
            </a:pPr>
            <a:r>
              <a:rPr b="0" i="0" lang="en-US" sz="9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©2026 C Spire. All rights reserved.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D58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-156919" y="-79421"/>
            <a:ext cx="3063224" cy="30632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0" y="156591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40080" y="365760"/>
            <a:ext cx="7863840" cy="4114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F3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00C0F3"/>
                </a:solidFill>
                <a:latin typeface="Nunito"/>
                <a:ea typeface="Nunito"/>
                <a:cs typeface="Nunito"/>
                <a:sym typeface="Nunito"/>
              </a:rPr>
              <a:t>THE REALITY TODAY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731520"/>
            <a:ext cx="786384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unito"/>
              <a:buNone/>
            </a:pPr>
            <a:r>
              <a:rPr lang="en-US" sz="3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Overcoming Obstacles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1554480"/>
            <a:ext cx="7863840" cy="1828800"/>
          </a:xfrm>
          <a:prstGeom prst="rect">
            <a:avLst/>
          </a:prstGeom>
          <a:solidFill>
            <a:srgbClr val="131E29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40080" y="1554480"/>
            <a:ext cx="73152" cy="18288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51560" y="1819656"/>
            <a:ext cx="109728" cy="109728"/>
          </a:xfrm>
          <a:prstGeom prst="ellipse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325880" y="1691640"/>
            <a:ext cx="6858000" cy="4114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unito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Relevant information requires navigating multiple systems</a:t>
            </a:r>
            <a:r>
              <a:rPr lang="en-US" sz="13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b="0" i="0" lang="en-US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 xml:space="preserve"> slowing techs down on-site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51560" y="2322576"/>
            <a:ext cx="109728" cy="109728"/>
          </a:xfrm>
          <a:prstGeom prst="ellipse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325880" y="2194560"/>
            <a:ext cx="6858000" cy="4114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unito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Critical data scattered across six platforms, each with its own login and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51560" y="2825496"/>
            <a:ext cx="109728" cy="109728"/>
          </a:xfrm>
          <a:prstGeom prst="ellipse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325880" y="2697480"/>
            <a:ext cx="6858000" cy="4114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EF3"/>
              </a:buClr>
              <a:buSzPts val="1400"/>
              <a:buFont typeface="Nunito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Wasted time, increased errors, and diminished professionalism in front of customers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3703320"/>
            <a:ext cx="2514600" cy="1005840"/>
          </a:xfrm>
          <a:prstGeom prst="rect">
            <a:avLst/>
          </a:prstGeom>
          <a:solidFill>
            <a:srgbClr val="131E29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40080" y="3703320"/>
            <a:ext cx="2514600" cy="4572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22960" y="3794760"/>
            <a:ext cx="2148840" cy="8686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1600"/>
              <a:buFont typeface="Nunito"/>
              <a:buNone/>
            </a:pPr>
            <a:r>
              <a:rPr b="1" i="0" lang="en-US" sz="1600" u="none" cap="none" strike="noStrike">
                <a:solidFill>
                  <a:srgbClr val="FF6720"/>
                </a:solidFill>
                <a:latin typeface="Nunito"/>
                <a:ea typeface="Nunito"/>
                <a:cs typeface="Nunito"/>
                <a:sym typeface="Nunito"/>
              </a:rPr>
              <a:t>Reduced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200"/>
              <a:buFont typeface="Nunito"/>
              <a:buNone/>
            </a:pPr>
            <a:r>
              <a:rPr b="0" i="0" lang="en-US" sz="12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Efficiency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429000" y="3703320"/>
            <a:ext cx="2514600" cy="1005840"/>
          </a:xfrm>
          <a:prstGeom prst="rect">
            <a:avLst/>
          </a:prstGeom>
          <a:solidFill>
            <a:srgbClr val="131E29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429000" y="3703320"/>
            <a:ext cx="2514600" cy="4572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611880" y="3794760"/>
            <a:ext cx="2148840" cy="8686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1600"/>
              <a:buFont typeface="Nunito"/>
              <a:buNone/>
            </a:pPr>
            <a:r>
              <a:rPr b="1" i="0" lang="en-US" sz="1600" u="none" cap="none" strike="noStrike">
                <a:solidFill>
                  <a:srgbClr val="FF6720"/>
                </a:solidFill>
                <a:latin typeface="Nunito"/>
                <a:ea typeface="Nunito"/>
                <a:cs typeface="Nunito"/>
                <a:sym typeface="Nunito"/>
              </a:rPr>
              <a:t>Increased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200"/>
              <a:buFont typeface="Nunito"/>
              <a:buNone/>
            </a:pPr>
            <a:r>
              <a:rPr b="0" i="0" lang="en-US" sz="12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Error Risk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217920" y="3703320"/>
            <a:ext cx="2514600" cy="1005840"/>
          </a:xfrm>
          <a:prstGeom prst="rect">
            <a:avLst/>
          </a:prstGeom>
          <a:solidFill>
            <a:srgbClr val="131E29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217920" y="3703320"/>
            <a:ext cx="2514600" cy="4572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400800" y="3794760"/>
            <a:ext cx="2148840" cy="8686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1600"/>
              <a:buFont typeface="Nunito"/>
              <a:buNone/>
            </a:pPr>
            <a:r>
              <a:rPr b="1" i="0" lang="en-US" sz="1600" u="none" cap="none" strike="noStrike">
                <a:solidFill>
                  <a:srgbClr val="FF6720"/>
                </a:solidFill>
                <a:latin typeface="Nunito"/>
                <a:ea typeface="Nunito"/>
                <a:cs typeface="Nunito"/>
                <a:sym typeface="Nunito"/>
              </a:rPr>
              <a:t>Diminished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200"/>
              <a:buFont typeface="Nunito"/>
              <a:buNone/>
            </a:pPr>
            <a:r>
              <a:rPr b="0" i="0" lang="en-US" sz="12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Professionalism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1F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5"/>
          <p:cNvPicPr preferRelativeResize="0"/>
          <p:nvPr/>
        </p:nvPicPr>
        <p:blipFill rotWithShape="1">
          <a:blip r:embed="rId3">
            <a:alphaModFix amt="54000"/>
          </a:blip>
          <a:srcRect b="0" l="0" r="0" t="0"/>
          <a:stretch/>
        </p:blipFill>
        <p:spPr>
          <a:xfrm>
            <a:off x="-156919" y="-79421"/>
            <a:ext cx="3063224" cy="30632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1000"/>
              </a:srgbClr>
            </a:outerShdw>
          </a:effectLst>
        </p:spPr>
      </p:pic>
      <p:sp>
        <p:nvSpPr>
          <p:cNvPr id="55" name="Google Shape;55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F3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00C0F3"/>
                </a:solidFill>
                <a:latin typeface="Nunito"/>
                <a:ea typeface="Nunito"/>
                <a:cs typeface="Nunito"/>
                <a:sym typeface="Nunito"/>
              </a:rPr>
              <a:t>THE 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58"/>
              </a:buClr>
              <a:buSzPts val="2800"/>
              <a:buFont typeface="Nunito"/>
              <a:buNone/>
            </a:pPr>
            <a:r>
              <a:rPr b="0" i="0" lang="en-US" sz="28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Technicians Need a Single Source of Truth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58"/>
              </a:buClr>
              <a:buSzPts val="1300"/>
              <a:buFont typeface="Nunito"/>
              <a:buNone/>
            </a:pPr>
            <a:r>
              <a:rPr b="0" i="0" lang="en-US" sz="13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 xml:space="preserve">Six separate platforms currently hold the data our technicians need. Consolidating them into a single </a:t>
            </a:r>
            <a:r>
              <a:rPr lang="en-US" sz="1300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pane-of-glass</a:t>
            </a:r>
            <a:r>
              <a:rPr b="0" i="0" lang="en-US" sz="13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 xml:space="preserve"> eliminates the friction.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2331720"/>
            <a:ext cx="2377440" cy="1005840"/>
          </a:xfrm>
          <a:prstGeom prst="rect">
            <a:avLst/>
          </a:prstGeom>
          <a:solidFill>
            <a:srgbClr val="0F3D5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56032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2" name="Google Shape;62;p5"/>
          <p:cNvSpPr/>
          <p:nvPr/>
        </p:nvSpPr>
        <p:spPr>
          <a:xfrm>
            <a:off x="1280160" y="2331720"/>
            <a:ext cx="1463040" cy="10058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ServiceNow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200400" y="2331720"/>
            <a:ext cx="2377440" cy="1005840"/>
          </a:xfrm>
          <a:prstGeom prst="rect">
            <a:avLst/>
          </a:prstGeom>
          <a:solidFill>
            <a:srgbClr val="5431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80" y="256032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5" name="Google Shape;65;p5"/>
          <p:cNvSpPr/>
          <p:nvPr/>
        </p:nvSpPr>
        <p:spPr>
          <a:xfrm>
            <a:off x="3931920" y="2331720"/>
            <a:ext cx="1463040" cy="10058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Salesforce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852160" y="2331720"/>
            <a:ext cx="2377440" cy="1005840"/>
          </a:xfrm>
          <a:prstGeom prst="rect">
            <a:avLst/>
          </a:prstGeom>
          <a:solidFill>
            <a:srgbClr val="0F3D5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5040" y="256032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8" name="Google Shape;68;p5"/>
          <p:cNvSpPr/>
          <p:nvPr/>
        </p:nvSpPr>
        <p:spPr>
          <a:xfrm>
            <a:off x="6583680" y="2331720"/>
            <a:ext cx="1463040" cy="10058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Arkis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48640" y="3566160"/>
            <a:ext cx="2377440" cy="1005840"/>
          </a:xfrm>
          <a:prstGeom prst="rect">
            <a:avLst/>
          </a:prstGeom>
          <a:solidFill>
            <a:srgbClr val="5431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" y="379476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1" name="Google Shape;71;p5"/>
          <p:cNvSpPr/>
          <p:nvPr/>
        </p:nvSpPr>
        <p:spPr>
          <a:xfrm>
            <a:off x="1280160" y="3566160"/>
            <a:ext cx="1463040" cy="10058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Cisco Meraki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00400" y="3566160"/>
            <a:ext cx="2377440" cy="1005840"/>
          </a:xfrm>
          <a:prstGeom prst="rect">
            <a:avLst/>
          </a:prstGeom>
          <a:solidFill>
            <a:srgbClr val="0F3D5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83280" y="379476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4" name="Google Shape;74;p5"/>
          <p:cNvSpPr/>
          <p:nvPr/>
        </p:nvSpPr>
        <p:spPr>
          <a:xfrm>
            <a:off x="3931920" y="3566160"/>
            <a:ext cx="1463040" cy="10058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AdTran N-Command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852160" y="3566160"/>
            <a:ext cx="2377440" cy="1005840"/>
          </a:xfrm>
          <a:prstGeom prst="rect">
            <a:avLst/>
          </a:prstGeom>
          <a:solidFill>
            <a:srgbClr val="5431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35040" y="379476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7" name="Google Shape;77;p5"/>
          <p:cNvSpPr/>
          <p:nvPr/>
        </p:nvSpPr>
        <p:spPr>
          <a:xfrm>
            <a:off x="6583680" y="3566160"/>
            <a:ext cx="1463040" cy="10058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Cisco Webex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E29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0" y="548640"/>
            <a:ext cx="9144000" cy="4114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1400"/>
              <a:buFont typeface="Nunito"/>
              <a:buNone/>
            </a:pPr>
            <a:r>
              <a:rPr b="1" i="0" lang="en-US" sz="2600" u="none" cap="none" strike="noStrike">
                <a:solidFill>
                  <a:srgbClr val="FF6720"/>
                </a:solidFill>
                <a:latin typeface="Nunito"/>
                <a:ea typeface="Nunito"/>
                <a:cs typeface="Nunito"/>
                <a:sym typeface="Nunito"/>
              </a:rPr>
              <a:t>INTRODUCING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nice-magical-keller/mnt/outputs/delta-brand/delta-logo-transparent.png" id="85" name="Google Shape;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280160"/>
            <a:ext cx="5029200" cy="17556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50000"/>
              </a:srgbClr>
            </a:outerShdw>
          </a:effectLst>
        </p:spPr>
      </p:pic>
      <p:sp>
        <p:nvSpPr>
          <p:cNvPr id="86" name="Google Shape;86;p6"/>
          <p:cNvSpPr/>
          <p:nvPr/>
        </p:nvSpPr>
        <p:spPr>
          <a:xfrm>
            <a:off x="3200400" y="3291840"/>
            <a:ext cx="2743200" cy="18288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400"/>
              <a:buFont typeface="Nunito"/>
              <a:buNone/>
            </a:pPr>
            <a:r>
              <a:rPr b="0" i="1" lang="en-US" sz="14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One Source. Every Answer.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900"/>
              <a:buFont typeface="Nunito"/>
              <a:buNone/>
            </a:pPr>
            <a:r>
              <a:rPr b="0" i="0" lang="en-US" sz="9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©2026 C Spire. All rights reserved.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6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-156919" y="-91440"/>
            <a:ext cx="3063224" cy="306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E2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7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-156402" y="-87332"/>
            <a:ext cx="3063224" cy="30632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F3"/>
              </a:buClr>
              <a:buSzPts val="1200"/>
              <a:buFont typeface="Nunito"/>
              <a:buNone/>
            </a:pPr>
            <a:r>
              <a:rPr b="1" i="0" lang="en-US" sz="1200" u="none" cap="none" strike="noStrike">
                <a:solidFill>
                  <a:srgbClr val="00C0F3"/>
                </a:solidFill>
                <a:latin typeface="Nunito"/>
                <a:ea typeface="Nunito"/>
                <a:cs typeface="Nunito"/>
                <a:sym typeface="Nunito"/>
              </a:rPr>
              <a:t>INFORMATION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unito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From Dispatch to Delta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82880" y="2011680"/>
            <a:ext cx="1645920" cy="1097280"/>
          </a:xfrm>
          <a:prstGeom prst="rect">
            <a:avLst/>
          </a:prstGeom>
          <a:solidFill>
            <a:srgbClr val="FF672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233172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1" name="Google Shape;101;p7"/>
          <p:cNvSpPr/>
          <p:nvPr/>
        </p:nvSpPr>
        <p:spPr>
          <a:xfrm>
            <a:off x="822960" y="2011680"/>
            <a:ext cx="914400" cy="10972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Tech Dispatched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7"/>
          <p:cNvCxnSpPr/>
          <p:nvPr/>
        </p:nvCxnSpPr>
        <p:spPr>
          <a:xfrm>
            <a:off x="1828800" y="2560320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FF672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" name="Google Shape;103;p7"/>
          <p:cNvSpPr/>
          <p:nvPr/>
        </p:nvSpPr>
        <p:spPr>
          <a:xfrm>
            <a:off x="2286000" y="1005840"/>
            <a:ext cx="2926080" cy="548640"/>
          </a:xfrm>
          <a:prstGeom prst="rect">
            <a:avLst/>
          </a:prstGeom>
          <a:solidFill>
            <a:srgbClr val="0F3D5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3160" y="1097280"/>
            <a:ext cx="36576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5" name="Google Shape;105;p7"/>
          <p:cNvSpPr/>
          <p:nvPr/>
        </p:nvSpPr>
        <p:spPr>
          <a:xfrm>
            <a:off x="2880360" y="1005840"/>
            <a:ext cx="1371600" cy="5486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023360" y="10058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EF3"/>
              </a:buClr>
              <a:buSzPts val="800"/>
              <a:buFont typeface="Nunito"/>
              <a:buNone/>
            </a:pPr>
            <a:r>
              <a:rPr b="0" i="0" lang="en-US" sz="800" u="none" cap="none" strike="noStrike">
                <a:solidFill>
                  <a:srgbClr val="B9DEF3"/>
                </a:solidFill>
                <a:latin typeface="Nunito"/>
                <a:ea typeface="Nunito"/>
                <a:cs typeface="Nunito"/>
                <a:sym typeface="Nunito"/>
              </a:rPr>
              <a:t>Tickets • Account • SLA • Orders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5212080" y="128016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00C0F3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08" name="Google Shape;108;p7"/>
          <p:cNvSpPr/>
          <p:nvPr/>
        </p:nvSpPr>
        <p:spPr>
          <a:xfrm>
            <a:off x="2286000" y="1627632"/>
            <a:ext cx="2926080" cy="548640"/>
          </a:xfrm>
          <a:prstGeom prst="rect">
            <a:avLst/>
          </a:prstGeom>
          <a:solidFill>
            <a:srgbClr val="5431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3160" y="1719072"/>
            <a:ext cx="36576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0" name="Google Shape;110;p7"/>
          <p:cNvSpPr/>
          <p:nvPr/>
        </p:nvSpPr>
        <p:spPr>
          <a:xfrm>
            <a:off x="2880360" y="1627632"/>
            <a:ext cx="1371600" cy="5486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Salesforce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023360" y="1627632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EF3"/>
              </a:buClr>
              <a:buSzPts val="800"/>
              <a:buFont typeface="Nunito"/>
              <a:buNone/>
            </a:pPr>
            <a:r>
              <a:rPr b="0" i="0" lang="en-US" sz="800" u="none" cap="none" strike="noStrike">
                <a:solidFill>
                  <a:srgbClr val="B9DEF3"/>
                </a:solidFill>
                <a:latin typeface="Nunito"/>
                <a:ea typeface="Nunito"/>
                <a:cs typeface="Nunito"/>
                <a:sym typeface="Nunito"/>
              </a:rPr>
              <a:t>Order Info • Files • Attachments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7"/>
          <p:cNvCxnSpPr/>
          <p:nvPr/>
        </p:nvCxnSpPr>
        <p:spPr>
          <a:xfrm>
            <a:off x="5212080" y="1901952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00C0F3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13" name="Google Shape;113;p7"/>
          <p:cNvSpPr/>
          <p:nvPr/>
        </p:nvSpPr>
        <p:spPr>
          <a:xfrm>
            <a:off x="2286000" y="2249424"/>
            <a:ext cx="2926080" cy="548640"/>
          </a:xfrm>
          <a:prstGeom prst="rect">
            <a:avLst/>
          </a:prstGeom>
          <a:solidFill>
            <a:srgbClr val="0F3D5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3160" y="2340864"/>
            <a:ext cx="36576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5" name="Google Shape;115;p7"/>
          <p:cNvSpPr/>
          <p:nvPr/>
        </p:nvSpPr>
        <p:spPr>
          <a:xfrm>
            <a:off x="2880360" y="2249424"/>
            <a:ext cx="1371600" cy="5486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Arkis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023360" y="2249424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EF3"/>
              </a:buClr>
              <a:buSzPts val="800"/>
              <a:buFont typeface="Nunito"/>
              <a:buNone/>
            </a:pPr>
            <a:r>
              <a:rPr b="0" i="0" lang="en-US" sz="800" u="none" cap="none" strike="noStrike">
                <a:solidFill>
                  <a:srgbClr val="B9DEF3"/>
                </a:solidFill>
                <a:latin typeface="Nunito"/>
                <a:ea typeface="Nunito"/>
                <a:cs typeface="Nunito"/>
                <a:sym typeface="Nunito"/>
              </a:rPr>
              <a:t>Circuit Status • IP/Subnet Info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7"/>
          <p:cNvCxnSpPr/>
          <p:nvPr/>
        </p:nvCxnSpPr>
        <p:spPr>
          <a:xfrm>
            <a:off x="5212080" y="2523744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00C0F3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18" name="Google Shape;118;p7"/>
          <p:cNvSpPr/>
          <p:nvPr/>
        </p:nvSpPr>
        <p:spPr>
          <a:xfrm>
            <a:off x="2286000" y="2871216"/>
            <a:ext cx="2926080" cy="548640"/>
          </a:xfrm>
          <a:prstGeom prst="rect">
            <a:avLst/>
          </a:prstGeom>
          <a:solidFill>
            <a:srgbClr val="5431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23160" y="2962656"/>
            <a:ext cx="36576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0" name="Google Shape;120;p7"/>
          <p:cNvSpPr/>
          <p:nvPr/>
        </p:nvSpPr>
        <p:spPr>
          <a:xfrm>
            <a:off x="2880360" y="2871216"/>
            <a:ext cx="1371600" cy="5486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Cisco Meraki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023360" y="2871216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EF3"/>
              </a:buClr>
              <a:buSzPts val="800"/>
              <a:buFont typeface="Nunito"/>
              <a:buNone/>
            </a:pPr>
            <a:r>
              <a:rPr b="0" i="0" lang="en-US" sz="800" u="none" cap="none" strike="noStrike">
                <a:solidFill>
                  <a:srgbClr val="B9DEF3"/>
                </a:solidFill>
                <a:latin typeface="Nunito"/>
                <a:ea typeface="Nunito"/>
                <a:cs typeface="Nunito"/>
                <a:sym typeface="Nunito"/>
              </a:rPr>
              <a:t>Network • Equipment • Health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7"/>
          <p:cNvCxnSpPr/>
          <p:nvPr/>
        </p:nvCxnSpPr>
        <p:spPr>
          <a:xfrm>
            <a:off x="5212080" y="3145536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00C0F3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23" name="Google Shape;123;p7"/>
          <p:cNvSpPr/>
          <p:nvPr/>
        </p:nvSpPr>
        <p:spPr>
          <a:xfrm>
            <a:off x="2286000" y="3493008"/>
            <a:ext cx="2926080" cy="548640"/>
          </a:xfrm>
          <a:prstGeom prst="rect">
            <a:avLst/>
          </a:prstGeom>
          <a:solidFill>
            <a:srgbClr val="0F3D5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23160" y="3584448"/>
            <a:ext cx="36576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5" name="Google Shape;125;p7"/>
          <p:cNvSpPr/>
          <p:nvPr/>
        </p:nvSpPr>
        <p:spPr>
          <a:xfrm>
            <a:off x="2880360" y="3493008"/>
            <a:ext cx="1371600" cy="5486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N-Command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023360" y="3493008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EF3"/>
              </a:buClr>
              <a:buSzPts val="800"/>
              <a:buFont typeface="Nunito"/>
              <a:buNone/>
            </a:pPr>
            <a:r>
              <a:rPr b="0" i="0" lang="en-US" sz="800" u="none" cap="none" strike="noStrike">
                <a:solidFill>
                  <a:srgbClr val="B9DEF3"/>
                </a:solidFill>
                <a:latin typeface="Nunito"/>
                <a:ea typeface="Nunito"/>
                <a:cs typeface="Nunito"/>
                <a:sym typeface="Nunito"/>
              </a:rPr>
              <a:t>Equipment • SSH Interface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7"/>
          <p:cNvCxnSpPr/>
          <p:nvPr/>
        </p:nvCxnSpPr>
        <p:spPr>
          <a:xfrm>
            <a:off x="5212080" y="3767328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00C0F3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28" name="Google Shape;128;p7"/>
          <p:cNvSpPr/>
          <p:nvPr/>
        </p:nvSpPr>
        <p:spPr>
          <a:xfrm>
            <a:off x="2286000" y="4114800"/>
            <a:ext cx="2926080" cy="548640"/>
          </a:xfrm>
          <a:prstGeom prst="rect">
            <a:avLst/>
          </a:prstGeom>
          <a:solidFill>
            <a:srgbClr val="5431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23160" y="4206240"/>
            <a:ext cx="36576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30" name="Google Shape;130;p7"/>
          <p:cNvSpPr/>
          <p:nvPr/>
        </p:nvSpPr>
        <p:spPr>
          <a:xfrm>
            <a:off x="2880360" y="4114800"/>
            <a:ext cx="1371600" cy="5486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Cisco Webex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023360" y="411480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EF3"/>
              </a:buClr>
              <a:buSzPts val="800"/>
              <a:buFont typeface="Nunito"/>
              <a:buNone/>
            </a:pPr>
            <a:r>
              <a:rPr b="0" i="0" lang="en-US" sz="800" u="none" cap="none" strike="noStrike">
                <a:solidFill>
                  <a:srgbClr val="B9DEF3"/>
                </a:solidFill>
                <a:latin typeface="Nunito"/>
                <a:ea typeface="Nunito"/>
                <a:cs typeface="Nunito"/>
                <a:sym typeface="Nunito"/>
              </a:rPr>
              <a:t>Equipment • Phone Config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7"/>
          <p:cNvCxnSpPr/>
          <p:nvPr/>
        </p:nvCxnSpPr>
        <p:spPr>
          <a:xfrm>
            <a:off x="5212080" y="438912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00C0F3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33" name="Google Shape;133;p7"/>
          <p:cNvSpPr/>
          <p:nvPr/>
        </p:nvSpPr>
        <p:spPr>
          <a:xfrm>
            <a:off x="5870448" y="932688"/>
            <a:ext cx="3072384" cy="3666744"/>
          </a:xfrm>
          <a:prstGeom prst="rect">
            <a:avLst/>
          </a:prstGeom>
          <a:solidFill>
            <a:srgbClr val="00C0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5943600" y="1005840"/>
            <a:ext cx="2926080" cy="3520440"/>
          </a:xfrm>
          <a:prstGeom prst="rect">
            <a:avLst/>
          </a:prstGeom>
          <a:solidFill>
            <a:srgbClr val="0F3D5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217925" y="1005850"/>
            <a:ext cx="2469000" cy="640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629400" y="10058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unito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217920" y="17373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DEF3"/>
              </a:buClr>
              <a:buSzPts val="1100"/>
              <a:buFont typeface="Nunito"/>
              <a:buNone/>
            </a:pPr>
            <a:r>
              <a:rPr b="1" i="0" lang="en-US" sz="1100" u="sng" cap="none" strike="noStrike">
                <a:solidFill>
                  <a:srgbClr val="B9DEF3"/>
                </a:solidFill>
                <a:latin typeface="Nunito"/>
                <a:ea typeface="Nunito"/>
                <a:cs typeface="Nunito"/>
                <a:sym typeface="Nunito"/>
              </a:rPr>
              <a:t>Unified Tech View</a:t>
            </a:r>
            <a:endParaRPr b="1" i="0" sz="11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263640" y="2267712"/>
            <a:ext cx="109728" cy="109728"/>
          </a:xfrm>
          <a:prstGeom prst="ellipse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492240" y="2194560"/>
            <a:ext cx="2103120" cy="2743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Work Orders &amp; Tickets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263640" y="2578608"/>
            <a:ext cx="109728" cy="109728"/>
          </a:xfrm>
          <a:prstGeom prst="ellipse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492240" y="2505456"/>
            <a:ext cx="2103120" cy="2743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Customer Account &amp; SLA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263640" y="2889504"/>
            <a:ext cx="109728" cy="109728"/>
          </a:xfrm>
          <a:prstGeom prst="ellipse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492240" y="2816352"/>
            <a:ext cx="2103120" cy="2743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Order Details &amp; 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263640" y="3200400"/>
            <a:ext cx="109728" cy="109728"/>
          </a:xfrm>
          <a:prstGeom prst="ellipse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6492240" y="3127248"/>
            <a:ext cx="2103120" cy="2743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Circuit Status &amp; IP Info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263640" y="3511296"/>
            <a:ext cx="109728" cy="109728"/>
          </a:xfrm>
          <a:prstGeom prst="ellipse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492240" y="3438144"/>
            <a:ext cx="2103120" cy="2743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Real-time Network Health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263640" y="3822192"/>
            <a:ext cx="109728" cy="109728"/>
          </a:xfrm>
          <a:prstGeom prst="ellipse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492240" y="3749040"/>
            <a:ext cx="2103120" cy="2743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Equipment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263640" y="4133088"/>
            <a:ext cx="109728" cy="109728"/>
          </a:xfrm>
          <a:prstGeom prst="ellipse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492240" y="4059936"/>
            <a:ext cx="2103120" cy="2743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Phone &amp; User Config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000"/>
              <a:buFont typeface="Nunito"/>
              <a:buNone/>
            </a:pPr>
            <a:r>
              <a:rPr b="0" i="1" lang="en-US" sz="10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All data accessible from a single interface at the point of 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nice-magical-keller/mnt/outputs/delta-brand/delta-logo-transparent.png" id="153" name="Google Shape;153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91722" y="969257"/>
            <a:ext cx="2121408" cy="71323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28575">
              <a:srgbClr val="000000">
                <a:alpha val="6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1F7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0" y="156591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48640" y="2286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F3"/>
              </a:buClr>
              <a:buSzPts val="1200"/>
              <a:buFont typeface="Nunito"/>
              <a:buNone/>
            </a:pPr>
            <a:r>
              <a:rPr b="1" i="0" lang="en-US" sz="1200" u="none" cap="none" strike="noStrike">
                <a:solidFill>
                  <a:srgbClr val="00C0F3"/>
                </a:solidFill>
                <a:latin typeface="Nunito"/>
                <a:ea typeface="Nunito"/>
                <a:cs typeface="Nunito"/>
                <a:sym typeface="Nunito"/>
              </a:rPr>
              <a:t>DATA 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58"/>
              </a:buClr>
              <a:buSzPts val="2400"/>
              <a:buFont typeface="Nunito"/>
              <a:buNone/>
            </a:pPr>
            <a:r>
              <a:rPr b="0" i="0" lang="en-US" sz="24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What Delta Consolidates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02920" y="11430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502920" y="1143000"/>
            <a:ext cx="2560320" cy="502920"/>
          </a:xfrm>
          <a:prstGeom prst="rect">
            <a:avLst/>
          </a:prstGeom>
          <a:solidFill>
            <a:srgbClr val="0F3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2161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1051560" y="1143000"/>
            <a:ext cx="18288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85800" y="173736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Work Order Ticket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Customer Account Information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Customer SLA Information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Order Information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337560" y="11430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3337560" y="1143000"/>
            <a:ext cx="2560320" cy="502920"/>
          </a:xfrm>
          <a:prstGeom prst="rect">
            <a:avLst/>
          </a:prstGeom>
          <a:solidFill>
            <a:srgbClr val="543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4720" y="12161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3886200" y="1143000"/>
            <a:ext cx="18288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Salesforce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520440" y="173736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Additional Order Information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Order Files and Attachments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172200" y="11430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172200" y="1143000"/>
            <a:ext cx="2560320" cy="502920"/>
          </a:xfrm>
          <a:prstGeom prst="rect">
            <a:avLst/>
          </a:prstGeom>
          <a:solidFill>
            <a:srgbClr val="0F3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360" y="12161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6720840" y="1143000"/>
            <a:ext cx="18288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Arkis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355080" y="173736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Circuit Status (Fulfilled/Pending)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Circuit Info (IP Range/Subnet)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02920" y="32004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502920" y="3200400"/>
            <a:ext cx="2560320" cy="502920"/>
          </a:xfrm>
          <a:prstGeom prst="rect">
            <a:avLst/>
          </a:prstGeom>
          <a:solidFill>
            <a:srgbClr val="543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32735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1051560" y="3200400"/>
            <a:ext cx="18288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Cisco Meraki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85800" y="379476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Realtime Networking Info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Realtime Equipment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Network Health/Stats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337560" y="32004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337560" y="3200400"/>
            <a:ext cx="2560320" cy="502920"/>
          </a:xfrm>
          <a:prstGeom prst="rect">
            <a:avLst/>
          </a:prstGeom>
          <a:solidFill>
            <a:srgbClr val="0F3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74720" y="32735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3886200" y="3200400"/>
            <a:ext cx="18288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AdTran N-Command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520440" y="379476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Realtime AdTran Equipment Info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Interface Info for SSH 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172200" y="32004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6172200" y="3200400"/>
            <a:ext cx="2560320" cy="502920"/>
          </a:xfrm>
          <a:prstGeom prst="rect">
            <a:avLst/>
          </a:prstGeom>
          <a:solidFill>
            <a:srgbClr val="543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09360" y="32735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6720840" y="3200400"/>
            <a:ext cx="18288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Cisco Webex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355080" y="379476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Realtime Equipment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3D58"/>
              </a:buClr>
              <a:buSzPts val="1000"/>
              <a:buFont typeface="Nunito"/>
              <a:buChar char="•"/>
            </a:pPr>
            <a:r>
              <a:rPr b="0" i="0" lang="en-US" sz="1000" u="none" cap="none" strike="noStrike">
                <a:solidFill>
                  <a:srgbClr val="0F3D58"/>
                </a:solidFill>
                <a:latin typeface="Nunito"/>
                <a:ea typeface="Nunito"/>
                <a:cs typeface="Nunito"/>
                <a:sym typeface="Nunito"/>
              </a:rPr>
              <a:t>User/Phone Config Info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E29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9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-156919" y="-79421"/>
            <a:ext cx="3063224" cy="306322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nice-magical-keller/mnt/outputs/delta-brand/delta-logo-transparent.png" id="200" name="Google Shape;2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457200"/>
            <a:ext cx="4114800" cy="143560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50000"/>
              </a:srgbClr>
            </a:outerShdw>
          </a:effectLst>
        </p:spPr>
      </p:pic>
      <p:sp>
        <p:nvSpPr>
          <p:cNvPr id="201" name="Google Shape;201;p9"/>
          <p:cNvSpPr/>
          <p:nvPr/>
        </p:nvSpPr>
        <p:spPr>
          <a:xfrm>
            <a:off x="0" y="2199070"/>
            <a:ext cx="9144000" cy="41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1400"/>
              <a:buFont typeface="Nunito"/>
              <a:buNone/>
            </a:pPr>
            <a:r>
              <a:rPr b="1" i="0" lang="en-US" sz="1900" cap="none" strike="noStrike">
                <a:solidFill>
                  <a:srgbClr val="FF6720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b="1" lang="en-US" sz="1900">
                <a:solidFill>
                  <a:srgbClr val="FF6720"/>
                </a:solidFill>
                <a:latin typeface="Nunito"/>
                <a:ea typeface="Nunito"/>
                <a:cs typeface="Nunito"/>
                <a:sym typeface="Nunito"/>
              </a:rPr>
              <a:t>ESIRED OUTCOME</a:t>
            </a:r>
            <a:endParaRPr b="0" i="0" sz="19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371600" y="2606040"/>
            <a:ext cx="6400800" cy="8229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unito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Technicians should be able to find all relevant data needed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unito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to serve a customer quickly and efficiently.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188720" y="4114800"/>
            <a:ext cx="2103120" cy="640080"/>
          </a:xfrm>
          <a:prstGeom prst="rect">
            <a:avLst/>
          </a:prstGeom>
          <a:solidFill>
            <a:srgbClr val="0F3D5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1188720" y="4114800"/>
            <a:ext cx="2103120" cy="6400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0F3"/>
              </a:buClr>
              <a:buSzPts val="1400"/>
              <a:buFont typeface="Nunito"/>
              <a:buNone/>
            </a:pPr>
            <a:r>
              <a:rPr b="1" i="0" lang="en-US" sz="1400" u="none" cap="none" strike="noStrike">
                <a:solidFill>
                  <a:srgbClr val="00C0F3"/>
                </a:solidFill>
                <a:latin typeface="Nunito"/>
                <a:ea typeface="Nunito"/>
                <a:cs typeface="Nunito"/>
                <a:sym typeface="Nunito"/>
              </a:rPr>
              <a:t>6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000"/>
              <a:buFont typeface="Nunito"/>
              <a:buNone/>
            </a:pPr>
            <a:r>
              <a:rPr b="0" i="0" lang="en-US" sz="10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One Interface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840480" y="4114800"/>
            <a:ext cx="2103120" cy="640080"/>
          </a:xfrm>
          <a:prstGeom prst="rect">
            <a:avLst/>
          </a:prstGeom>
          <a:solidFill>
            <a:srgbClr val="0F3D5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3840480" y="4114800"/>
            <a:ext cx="2103120" cy="6400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0F3"/>
              </a:buClr>
              <a:buSzPts val="1400"/>
              <a:buFont typeface="Nunito"/>
              <a:buNone/>
            </a:pPr>
            <a:r>
              <a:rPr b="1" i="0" lang="en-US" sz="1400" u="none" cap="none" strike="noStrike">
                <a:solidFill>
                  <a:srgbClr val="00C0F3"/>
                </a:solidFill>
                <a:latin typeface="Nunito"/>
                <a:ea typeface="Nunito"/>
                <a:cs typeface="Nunito"/>
                <a:sym typeface="Nunito"/>
              </a:rPr>
              <a:t>Real-time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000"/>
              <a:buFont typeface="Nunito"/>
              <a:buNone/>
            </a:pPr>
            <a:r>
              <a:rPr b="0" i="0" lang="en-US" sz="10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Data Access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492240" y="4114800"/>
            <a:ext cx="2103120" cy="640080"/>
          </a:xfrm>
          <a:prstGeom prst="rect">
            <a:avLst/>
          </a:prstGeom>
          <a:solidFill>
            <a:srgbClr val="0F3D58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492240" y="4114800"/>
            <a:ext cx="2103120" cy="6400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0F3"/>
              </a:buClr>
              <a:buSzPts val="1400"/>
              <a:buFont typeface="Nunito"/>
              <a:buNone/>
            </a:pPr>
            <a:r>
              <a:rPr b="1" i="0" lang="en-US" sz="1400" u="none" cap="none" strike="noStrike">
                <a:solidFill>
                  <a:srgbClr val="00C0F3"/>
                </a:solidFill>
                <a:latin typeface="Nunito"/>
                <a:ea typeface="Nunito"/>
                <a:cs typeface="Nunito"/>
                <a:sym typeface="Nunito"/>
              </a:rPr>
              <a:t>Faster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000"/>
              <a:buFont typeface="Nunito"/>
              <a:buNone/>
            </a:pPr>
            <a:r>
              <a:rPr b="0" i="0" lang="en-US" sz="10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Service Delivery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800"/>
              <a:buFont typeface="Nunito"/>
              <a:buNone/>
            </a:pPr>
            <a:r>
              <a:rPr b="0" i="0" lang="en-US" sz="8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©2026 C Spire. All rights reserved.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E29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nice-magical-keller/mnt/outputs/delta-brand/delta-icon-transparent.png" id="216" name="Google Shape;2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1880" y="457200"/>
            <a:ext cx="1920240" cy="19202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50000"/>
              </a:srgbClr>
            </a:outerShdw>
          </a:effectLst>
        </p:spPr>
      </p:pic>
      <p:sp>
        <p:nvSpPr>
          <p:cNvPr id="217" name="Google Shape;217;p10"/>
          <p:cNvSpPr/>
          <p:nvPr/>
        </p:nvSpPr>
        <p:spPr>
          <a:xfrm>
            <a:off x="0" y="2468880"/>
            <a:ext cx="9144000" cy="7772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Nunito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LIVE DEMO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200400" y="3383280"/>
            <a:ext cx="2743200" cy="18288"/>
          </a:xfrm>
          <a:prstGeom prst="rect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2194560" y="3703320"/>
            <a:ext cx="109728" cy="109728"/>
          </a:xfrm>
          <a:prstGeom prst="ellipse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2423160" y="3611880"/>
            <a:ext cx="1280160" cy="3200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F3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00C0F3"/>
                </a:solidFill>
                <a:latin typeface="Nunito"/>
                <a:ea typeface="Nunito"/>
                <a:cs typeface="Nunito"/>
                <a:sym typeface="Nunito"/>
              </a:rPr>
              <a:t>Tickets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703320" y="3611880"/>
            <a:ext cx="3840480" cy="3200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200"/>
              <a:buFont typeface="Nunito"/>
              <a:buNone/>
            </a:pPr>
            <a:r>
              <a:rPr b="0" i="0" lang="en-US" sz="12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Dispatch view, SLA tracking, work order details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2194560" y="4069080"/>
            <a:ext cx="109728" cy="109728"/>
          </a:xfrm>
          <a:prstGeom prst="ellipse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2423160" y="3977640"/>
            <a:ext cx="1280160" cy="3200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F3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00C0F3"/>
                </a:solidFill>
                <a:latin typeface="Nunito"/>
                <a:ea typeface="Nunito"/>
                <a:cs typeface="Nunito"/>
                <a:sym typeface="Nunito"/>
              </a:rPr>
              <a:t>Customers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703320" y="3977640"/>
            <a:ext cx="3840480" cy="3200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200"/>
              <a:buFont typeface="Nunito"/>
              <a:buNone/>
            </a:pPr>
            <a:r>
              <a:rPr b="0" i="0" lang="en-US" sz="12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Account lookup, contact info, service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2194560" y="4434840"/>
            <a:ext cx="109728" cy="109728"/>
          </a:xfrm>
          <a:prstGeom prst="ellipse">
            <a:avLst/>
          </a:prstGeom>
          <a:solidFill>
            <a:srgbClr val="00C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2423160" y="4343400"/>
            <a:ext cx="1280160" cy="3200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0F3"/>
              </a:buClr>
              <a:buSzPts val="1300"/>
              <a:buFont typeface="Nunito"/>
              <a:buNone/>
            </a:pPr>
            <a:r>
              <a:rPr b="1" i="0" lang="en-US" sz="1300" u="none" cap="none" strike="noStrike">
                <a:solidFill>
                  <a:srgbClr val="00C0F3"/>
                </a:solidFill>
                <a:latin typeface="Nunito"/>
                <a:ea typeface="Nunito"/>
                <a:cs typeface="Nunito"/>
                <a:sym typeface="Nunito"/>
              </a:rPr>
              <a:t>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703320" y="4343400"/>
            <a:ext cx="3840480" cy="3200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1200"/>
              <a:buFont typeface="Nunito"/>
              <a:buNone/>
            </a:pPr>
            <a:r>
              <a:rPr b="0" i="0" lang="en-US" sz="12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Live equipment status, circuit health, diagnostics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A7CA"/>
              </a:buClr>
              <a:buSzPts val="800"/>
              <a:buFont typeface="Nunito"/>
              <a:buNone/>
            </a:pPr>
            <a:r>
              <a:rPr b="0" i="0" lang="en-US" sz="800" u="none" cap="none" strike="noStrike">
                <a:solidFill>
                  <a:srgbClr val="85A7CA"/>
                </a:solidFill>
                <a:latin typeface="Nunito"/>
                <a:ea typeface="Nunito"/>
                <a:cs typeface="Nunito"/>
                <a:sym typeface="Nunito"/>
              </a:rPr>
              <a:t>©2026 C Spire. All rights reserved.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0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-156919" y="-79421"/>
            <a:ext cx="3063224" cy="306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